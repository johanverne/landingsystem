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5" r:id="rId5"/>
    <p:sldId id="264" r:id="rId6"/>
    <p:sldId id="261" r:id="rId7"/>
    <p:sldId id="262" r:id="rId8"/>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p:cViewPr varScale="1">
        <p:scale>
          <a:sx n="124" d="100"/>
          <a:sy n="124" d="100"/>
        </p:scale>
        <p:origin x="5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1A35-54B8-98F4-CCD4-FD473206A35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46DBA063-92F4-E11E-08FB-2B6E1E11F8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99108128-939A-FFB5-46A9-B267AC1375A0}"/>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57C3979E-D7D7-4199-A5F7-91C57D20B4EA}"/>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9E285232-06A0-8FD1-D1E8-E7DE4B55D5CF}"/>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428082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0FCD-9B85-A7E3-0804-C951B39F95CC}"/>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DF9555C9-D046-51A1-AC7F-195B20A7F9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295DDFBF-535E-CA22-1987-6E16D71E02FC}"/>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89D50B4D-9F68-2E88-55DB-8A745493CECD}"/>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E7C66DD-2523-3BBB-2087-492A33169A92}"/>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229967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E477-A864-3A02-9227-C72C8E10C25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74E62B4A-E8C4-27A7-AC85-5DDEED7299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B03B05-3C3D-6952-D368-DBDB4DCEB1F5}"/>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FB8E9C4D-B788-E07F-9CA4-FCCFA57E9A51}"/>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274E6E40-B6EE-BDB6-2CD4-BF154C77F067}"/>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1914844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7341C-8C1D-2CF5-865A-65FF976D3B13}"/>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F930B3F6-1403-10E9-3263-8F9E1BB03E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2B8A815C-F81D-06DB-2793-C9269D7CA19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2A385C82-664F-B7CE-D11F-1D49D3D24E41}"/>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6" name="Footer Placeholder 5">
            <a:extLst>
              <a:ext uri="{FF2B5EF4-FFF2-40B4-BE49-F238E27FC236}">
                <a16:creationId xmlns:a16="http://schemas.microsoft.com/office/drawing/2014/main" id="{E1CFC3AA-16D4-C190-682E-5E79CD8A5432}"/>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BCF7F74A-64F7-9A99-CA47-1B1721FF56B3}"/>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394169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AD85-2846-E827-8E25-97F7D46C1A60}"/>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C923D736-9836-F088-816C-66B356F492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AFD3F8B-EAD0-33BE-A4AC-E98F3F099C4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5B43413C-A33D-39C7-BF97-1CAD97FBF3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08F214-9B1E-6022-F2C7-982231324C2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FB31B34C-4539-DC31-64A7-FB9844DA6F1C}"/>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8" name="Footer Placeholder 7">
            <a:extLst>
              <a:ext uri="{FF2B5EF4-FFF2-40B4-BE49-F238E27FC236}">
                <a16:creationId xmlns:a16="http://schemas.microsoft.com/office/drawing/2014/main" id="{0EA46B16-F787-17A8-C671-7C705B783087}"/>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5D9EB364-23F3-0FFE-18EB-A1C7F5E41C3F}"/>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4144293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A8B3-B6CE-4F33-1445-62E2F8FBC088}"/>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7C3E5352-AFF3-920B-C485-F8E9ED94B59E}"/>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4" name="Footer Placeholder 3">
            <a:extLst>
              <a:ext uri="{FF2B5EF4-FFF2-40B4-BE49-F238E27FC236}">
                <a16:creationId xmlns:a16="http://schemas.microsoft.com/office/drawing/2014/main" id="{C71F32B9-3B79-9831-1642-03B00FB734C4}"/>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EB44442A-DE9C-74AE-01DE-BA57E7A68A44}"/>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1510383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0326B3-FC75-89B2-291A-E3F64CEBFAED}"/>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3" name="Footer Placeholder 2">
            <a:extLst>
              <a:ext uri="{FF2B5EF4-FFF2-40B4-BE49-F238E27FC236}">
                <a16:creationId xmlns:a16="http://schemas.microsoft.com/office/drawing/2014/main" id="{E112DA83-79E0-F99C-8AE9-E2FC85A15FD6}"/>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3FA64BA7-35F8-9853-7C56-8A7EC3AF1851}"/>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4001865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F3A24-57FD-DBFB-1F89-C834BCF650D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7F8B2D48-9B26-5BC5-8C7C-F9A5DD0360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B5FC2AC1-4BD7-EF38-B4E4-7F4FACB56F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E115EFC-244C-0CA5-E243-1745A0572782}"/>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6" name="Footer Placeholder 5">
            <a:extLst>
              <a:ext uri="{FF2B5EF4-FFF2-40B4-BE49-F238E27FC236}">
                <a16:creationId xmlns:a16="http://schemas.microsoft.com/office/drawing/2014/main" id="{7F9998A1-0A66-87A8-4ABD-9B380D07B32F}"/>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584E0654-8307-3D87-592A-0F76F49150C2}"/>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3536552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C22D-9F45-9D3A-D7DA-9E97C9595D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98180056-D8F8-CAD8-46A8-A5701AF144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0894015F-B566-8871-6853-A5CE66149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2C5300-7F3D-BCCA-9E55-4AF7C481A13B}"/>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6" name="Footer Placeholder 5">
            <a:extLst>
              <a:ext uri="{FF2B5EF4-FFF2-40B4-BE49-F238E27FC236}">
                <a16:creationId xmlns:a16="http://schemas.microsoft.com/office/drawing/2014/main" id="{CD041545-E753-A10A-4FA9-BBE056164767}"/>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0DD49A45-4891-2E4E-914C-C5C1BD270387}"/>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3811923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2586-E5C9-22A6-1541-10709C506029}"/>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6A884E2A-1A83-6039-ABB8-718631AEA6C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361E3680-ACEE-8C00-84A8-5C9ABFF99E4F}"/>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28F98A54-3E22-69B8-10F4-631E8CD17D4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337C4FB2-07E3-A8A1-E4E4-FD81361E7F25}"/>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871451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4C0CE1-632D-02A0-876A-2E7CC0A7232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9956B377-333B-651B-FA96-D8BA059A484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AA873B47-7A8B-1B6D-D4E5-E919A5A3C2D3}"/>
              </a:ext>
            </a:extLst>
          </p:cNvPr>
          <p:cNvSpPr>
            <a:spLocks noGrp="1"/>
          </p:cNvSpPr>
          <p:nvPr>
            <p:ph type="dt" sz="half" idx="10"/>
          </p:nvPr>
        </p:nvSpPr>
        <p:spPr/>
        <p:txBody>
          <a:body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E9DC7E5D-DE11-4BF9-3D76-300639AF4017}"/>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1C04227-E2F9-A4F9-3AA1-B6ABE5DA11B1}"/>
              </a:ext>
            </a:extLst>
          </p:cNvPr>
          <p:cNvSpPr>
            <a:spLocks noGrp="1"/>
          </p:cNvSpPr>
          <p:nvPr>
            <p:ph type="sldNum" sz="quarter" idx="12"/>
          </p:nvPr>
        </p:nvSpPr>
        <p:spPr/>
        <p:txBody>
          <a:bodyPr/>
          <a:lstStyle/>
          <a:p>
            <a:fld id="{387CBEE2-402B-5C4A-9E82-35811BD92411}" type="slidenum">
              <a:rPr lang="en-FR" smtClean="0"/>
              <a:t>‹#›</a:t>
            </a:fld>
            <a:endParaRPr lang="en-FR"/>
          </a:p>
        </p:txBody>
      </p:sp>
    </p:spTree>
    <p:extLst>
      <p:ext uri="{BB962C8B-B14F-4D97-AF65-F5344CB8AC3E}">
        <p14:creationId xmlns:p14="http://schemas.microsoft.com/office/powerpoint/2010/main" val="3829104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C8B57B-B5CA-E7A7-4E31-2C4D4B0E4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20A9946C-1191-3CCD-C375-D578DB8131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77DC1075-CABF-D9FD-EEC4-53516D9E0A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72DC-D70E-E049-AC49-FDFBA3D229F5}" type="datetimeFigureOut">
              <a:rPr lang="en-FR" smtClean="0"/>
              <a:t>15/11/2023</a:t>
            </a:fld>
            <a:endParaRPr lang="en-FR"/>
          </a:p>
        </p:txBody>
      </p:sp>
      <p:sp>
        <p:nvSpPr>
          <p:cNvPr id="5" name="Footer Placeholder 4">
            <a:extLst>
              <a:ext uri="{FF2B5EF4-FFF2-40B4-BE49-F238E27FC236}">
                <a16:creationId xmlns:a16="http://schemas.microsoft.com/office/drawing/2014/main" id="{9F7D70D9-B733-B603-3A89-860CF1D034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0156951F-2B5F-3CA5-58A4-6B5F19126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7CBEE2-402B-5C4A-9E82-35811BD92411}" type="slidenum">
              <a:rPr lang="en-FR" smtClean="0"/>
              <a:t>‹#›</a:t>
            </a:fld>
            <a:endParaRPr lang="en-FR"/>
          </a:p>
        </p:txBody>
      </p:sp>
    </p:spTree>
    <p:extLst>
      <p:ext uri="{BB962C8B-B14F-4D97-AF65-F5344CB8AC3E}">
        <p14:creationId xmlns:p14="http://schemas.microsoft.com/office/powerpoint/2010/main" val="510599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A5CF-8298-C785-DF3B-EFED3182146B}"/>
              </a:ext>
            </a:extLst>
          </p:cNvPr>
          <p:cNvSpPr>
            <a:spLocks noGrp="1"/>
          </p:cNvSpPr>
          <p:nvPr>
            <p:ph type="ctrTitle"/>
          </p:nvPr>
        </p:nvSpPr>
        <p:spPr/>
        <p:txBody>
          <a:bodyPr/>
          <a:lstStyle/>
          <a:p>
            <a:r>
              <a:rPr lang="en-FR" dirty="0"/>
              <a:t>Landing Gear System</a:t>
            </a:r>
            <a:br>
              <a:rPr lang="en-FR" dirty="0"/>
            </a:br>
            <a:r>
              <a:rPr lang="en-FR" dirty="0"/>
              <a:t>UPPAAL</a:t>
            </a:r>
          </a:p>
        </p:txBody>
      </p:sp>
      <p:sp>
        <p:nvSpPr>
          <p:cNvPr id="3" name="Subtitle 2">
            <a:extLst>
              <a:ext uri="{FF2B5EF4-FFF2-40B4-BE49-F238E27FC236}">
                <a16:creationId xmlns:a16="http://schemas.microsoft.com/office/drawing/2014/main" id="{B28D0E4F-86FE-F1A6-C481-4906BD45D800}"/>
              </a:ext>
            </a:extLst>
          </p:cNvPr>
          <p:cNvSpPr>
            <a:spLocks noGrp="1"/>
          </p:cNvSpPr>
          <p:nvPr>
            <p:ph type="subTitle" idx="1"/>
          </p:nvPr>
        </p:nvSpPr>
        <p:spPr/>
        <p:txBody>
          <a:bodyPr/>
          <a:lstStyle/>
          <a:p>
            <a:r>
              <a:rPr lang="en-FR" dirty="0"/>
              <a:t>Ciprian Teodorov</a:t>
            </a:r>
          </a:p>
        </p:txBody>
      </p:sp>
    </p:spTree>
    <p:extLst>
      <p:ext uri="{BB962C8B-B14F-4D97-AF65-F5344CB8AC3E}">
        <p14:creationId xmlns:p14="http://schemas.microsoft.com/office/powerpoint/2010/main" val="318301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5F6FE-574E-6F18-1469-6CC86730CF99}"/>
              </a:ext>
            </a:extLst>
          </p:cNvPr>
          <p:cNvSpPr>
            <a:spLocks noGrp="1"/>
          </p:cNvSpPr>
          <p:nvPr>
            <p:ph type="title"/>
          </p:nvPr>
        </p:nvSpPr>
        <p:spPr/>
        <p:txBody>
          <a:bodyPr/>
          <a:lstStyle/>
          <a:p>
            <a:r>
              <a:rPr lang="en-FR" dirty="0"/>
              <a:t>Analog Switch</a:t>
            </a:r>
          </a:p>
        </p:txBody>
      </p:sp>
      <p:sp>
        <p:nvSpPr>
          <p:cNvPr id="3" name="Content Placeholder 2">
            <a:extLst>
              <a:ext uri="{FF2B5EF4-FFF2-40B4-BE49-F238E27FC236}">
                <a16:creationId xmlns:a16="http://schemas.microsoft.com/office/drawing/2014/main" id="{F15B7508-0D02-638A-06D5-7D2C9D7C37E9}"/>
              </a:ext>
            </a:extLst>
          </p:cNvPr>
          <p:cNvSpPr>
            <a:spLocks noGrp="1"/>
          </p:cNvSpPr>
          <p:nvPr>
            <p:ph idx="1"/>
          </p:nvPr>
        </p:nvSpPr>
        <p:spPr>
          <a:xfrm>
            <a:off x="838200" y="1315232"/>
            <a:ext cx="5909153" cy="5273457"/>
          </a:xfrm>
        </p:spPr>
        <p:txBody>
          <a:bodyPr>
            <a:normAutofit fontScale="92500" lnSpcReduction="10000"/>
          </a:bodyPr>
          <a:lstStyle/>
          <a:p>
            <a:r>
              <a:rPr lang="en-GB" sz="1200" dirty="0">
                <a:effectLst/>
                <a:latin typeface="CMR10"/>
              </a:rPr>
              <a:t>The aim of this switch is to protect the system against abnormal </a:t>
            </a:r>
            <a:r>
              <a:rPr lang="en-GB" sz="1200" dirty="0" err="1">
                <a:effectLst/>
                <a:latin typeface="CMR10"/>
              </a:rPr>
              <a:t>behavior</a:t>
            </a:r>
            <a:r>
              <a:rPr lang="en-GB" sz="1200" dirty="0">
                <a:effectLst/>
                <a:latin typeface="CMR10"/>
              </a:rPr>
              <a:t> of the digital part. In order to prevent inadvertent order to the electro-valves, the general electro-valve can be stimulated only if this switch is closed. The switch is closed each time the “Up/Down” handle is moved by the pilot, and it remains closed 20 seconds. After this duration, the switch automatically becomes open. In the closed position, the switch transmits the electrical order from the digital part to the general electro-valve. In the open position, no electrical order is sent to the electro-valve. In that case, the oil pressure in the hydraulic circuit becomes down. </a:t>
            </a:r>
            <a:endParaRPr lang="en-GB" sz="2000" dirty="0"/>
          </a:p>
          <a:p>
            <a:r>
              <a:rPr lang="en-GB" sz="1200" dirty="0">
                <a:effectLst/>
                <a:latin typeface="CMR10"/>
              </a:rPr>
              <a:t>Because of inertial reasons, the transition from the two states closed and open takes a given amount of time: </a:t>
            </a:r>
            <a:endParaRPr lang="en-GB" sz="2000" dirty="0"/>
          </a:p>
          <a:p>
            <a:pPr lvl="1"/>
            <a:r>
              <a:rPr lang="en-GB" sz="1200" dirty="0">
                <a:effectLst/>
                <a:latin typeface="CMR10"/>
              </a:rPr>
              <a:t>from open to closed: 0.8 second, </a:t>
            </a:r>
          </a:p>
          <a:p>
            <a:pPr lvl="1"/>
            <a:r>
              <a:rPr lang="en-GB" sz="1200" dirty="0">
                <a:effectLst/>
                <a:latin typeface="CMR10"/>
              </a:rPr>
              <a:t>from closed to open 1.2 seconds, </a:t>
            </a:r>
            <a:endParaRPr lang="en-GB" sz="2600" dirty="0"/>
          </a:p>
          <a:p>
            <a:r>
              <a:rPr lang="en-GB" sz="1200" dirty="0">
                <a:effectLst/>
                <a:latin typeface="CMR10"/>
              </a:rPr>
              <a:t>In addition to this normal </a:t>
            </a:r>
            <a:r>
              <a:rPr lang="en-GB" sz="1200" dirty="0" err="1">
                <a:effectLst/>
                <a:latin typeface="CMR10"/>
              </a:rPr>
              <a:t>behavior</a:t>
            </a:r>
            <a:r>
              <a:rPr lang="en-GB" sz="1200" dirty="0">
                <a:effectLst/>
                <a:latin typeface="CMR10"/>
              </a:rPr>
              <a:t>, the analogical switch can fail. We con- sider only permanent failures: the switch remains blocked in the closed or in the open position. A failure can occur at any time. </a:t>
            </a:r>
            <a:endParaRPr lang="en-GB" sz="2000" dirty="0"/>
          </a:p>
          <a:p>
            <a:r>
              <a:rPr lang="en-GB" sz="1200" dirty="0">
                <a:effectLst/>
                <a:latin typeface="CMR10"/>
              </a:rPr>
              <a:t>The global </a:t>
            </a:r>
            <a:r>
              <a:rPr lang="en-GB" sz="1200" dirty="0" err="1">
                <a:effectLst/>
                <a:latin typeface="CMR10"/>
              </a:rPr>
              <a:t>behavior</a:t>
            </a:r>
            <a:r>
              <a:rPr lang="en-GB" sz="1200" dirty="0">
                <a:effectLst/>
                <a:latin typeface="CMR10"/>
              </a:rPr>
              <a:t> of the switch, including failures, is specified by the model of Figure 7 and the hierarchical hybrid automaton of Figure 8. In this specification, </a:t>
            </a:r>
            <a:r>
              <a:rPr lang="en-GB" sz="1200" dirty="0">
                <a:effectLst/>
                <a:latin typeface="CMTI10"/>
              </a:rPr>
              <a:t>in </a:t>
            </a:r>
            <a:r>
              <a:rPr lang="en-GB" sz="1200" dirty="0">
                <a:effectLst/>
                <a:latin typeface="CMR10"/>
              </a:rPr>
              <a:t>stands for the input value of the switch. In the global architecture of Figure 4, the </a:t>
            </a:r>
            <a:r>
              <a:rPr lang="en-GB" sz="1200" dirty="0">
                <a:effectLst/>
                <a:latin typeface="CMTI10"/>
              </a:rPr>
              <a:t>in </a:t>
            </a:r>
            <a:r>
              <a:rPr lang="en-GB" sz="1200" dirty="0">
                <a:effectLst/>
                <a:latin typeface="CMR10"/>
              </a:rPr>
              <a:t>port of the analogical switch is connected to the </a:t>
            </a:r>
            <a:r>
              <a:rPr lang="en-GB" sz="1200" dirty="0">
                <a:effectLst/>
                <a:latin typeface="CMTI10"/>
              </a:rPr>
              <a:t>general EV </a:t>
            </a:r>
            <a:r>
              <a:rPr lang="en-GB" sz="1200" dirty="0">
                <a:effectLst/>
                <a:latin typeface="CMR10"/>
              </a:rPr>
              <a:t>output of the digital part (i.e., </a:t>
            </a:r>
            <a:r>
              <a:rPr lang="en-GB" sz="1200" dirty="0">
                <a:effectLst/>
                <a:latin typeface="CMTI10"/>
              </a:rPr>
              <a:t>in </a:t>
            </a:r>
            <a:r>
              <a:rPr lang="en-GB" sz="1200" dirty="0">
                <a:effectLst/>
                <a:latin typeface="CMR10"/>
              </a:rPr>
              <a:t>= </a:t>
            </a:r>
            <a:r>
              <a:rPr lang="en-GB" sz="1200" dirty="0">
                <a:effectLst/>
                <a:latin typeface="CMTI10"/>
              </a:rPr>
              <a:t>general EV</a:t>
            </a:r>
            <a:r>
              <a:rPr lang="en-GB" sz="1200" dirty="0">
                <a:effectLst/>
                <a:latin typeface="CMR10"/>
              </a:rPr>
              <a:t>). The variable </a:t>
            </a:r>
            <a:r>
              <a:rPr lang="en-GB" sz="1200" dirty="0">
                <a:effectLst/>
                <a:latin typeface="CMTI10"/>
              </a:rPr>
              <a:t>out </a:t>
            </a:r>
            <a:r>
              <a:rPr lang="en-GB" sz="1200" dirty="0">
                <a:effectLst/>
                <a:latin typeface="CMR10"/>
              </a:rPr>
              <a:t>stands for the electrical output of the switch. It is connected to the electrical port of the general electro-valve. The variable </a:t>
            </a:r>
            <a:r>
              <a:rPr lang="en-GB" sz="1200" dirty="0">
                <a:effectLst/>
                <a:latin typeface="CMTI10"/>
              </a:rPr>
              <a:t>state </a:t>
            </a:r>
            <a:r>
              <a:rPr lang="en-GB" sz="1200" dirty="0">
                <a:effectLst/>
                <a:latin typeface="CMR10"/>
              </a:rPr>
              <a:t>is the logical output of the switch. It belongs to the set </a:t>
            </a:r>
            <a:r>
              <a:rPr lang="en-GB" sz="1200" dirty="0">
                <a:effectLst/>
                <a:latin typeface="CMSY10"/>
              </a:rPr>
              <a:t>{</a:t>
            </a:r>
            <a:r>
              <a:rPr lang="en-GB" sz="1200" dirty="0">
                <a:effectLst/>
                <a:latin typeface="CMTI10"/>
              </a:rPr>
              <a:t>open</a:t>
            </a:r>
            <a:r>
              <a:rPr lang="en-GB" sz="1200" dirty="0">
                <a:effectLst/>
                <a:latin typeface="CMMI10"/>
              </a:rPr>
              <a:t>, </a:t>
            </a:r>
            <a:r>
              <a:rPr lang="en-GB" sz="1200" dirty="0">
                <a:effectLst/>
                <a:latin typeface="CMTI10"/>
              </a:rPr>
              <a:t>closed</a:t>
            </a:r>
            <a:r>
              <a:rPr lang="en-GB" sz="1200" dirty="0">
                <a:effectLst/>
                <a:latin typeface="CMSY10"/>
              </a:rPr>
              <a:t>}</a:t>
            </a:r>
            <a:r>
              <a:rPr lang="en-GB" sz="1200" dirty="0">
                <a:effectLst/>
                <a:latin typeface="CMR10"/>
              </a:rPr>
              <a:t>. It is connected to the input port </a:t>
            </a:r>
            <a:r>
              <a:rPr lang="en-GB" sz="1200" dirty="0">
                <a:effectLst/>
                <a:latin typeface="CMTI10"/>
              </a:rPr>
              <a:t>analogical switch </a:t>
            </a:r>
            <a:r>
              <a:rPr lang="en-GB" sz="1200" dirty="0">
                <a:effectLst/>
                <a:latin typeface="CMR10"/>
              </a:rPr>
              <a:t>of the digital part. Note that this output value is triplicated as explained in section 2.3. The event </a:t>
            </a:r>
            <a:r>
              <a:rPr lang="en-GB" sz="1200" dirty="0">
                <a:effectLst/>
                <a:latin typeface="CMTI10"/>
              </a:rPr>
              <a:t>handle? </a:t>
            </a:r>
            <a:r>
              <a:rPr lang="en-GB" sz="1200" dirty="0">
                <a:effectLst/>
                <a:latin typeface="CMR10"/>
              </a:rPr>
              <a:t>stands for the detection of a movement of the pilot handle. This event is received each time the pilot moves the handle. And finally, </a:t>
            </a:r>
            <a:r>
              <a:rPr lang="en-GB" sz="1200" dirty="0">
                <a:effectLst/>
                <a:latin typeface="CMMI10"/>
              </a:rPr>
              <a:t>x </a:t>
            </a:r>
            <a:r>
              <a:rPr lang="en-GB" sz="1200" dirty="0">
                <a:effectLst/>
                <a:latin typeface="CMR10"/>
              </a:rPr>
              <a:t>is an internal continuous variable that evolves according to the differential equation in each state. The aim of this variable is to count the time in each state. For instance, in the state Open, </a:t>
            </a:r>
            <a:r>
              <a:rPr lang="en-GB" sz="1200" dirty="0">
                <a:effectLst/>
                <a:latin typeface="CMMI10"/>
              </a:rPr>
              <a:t>x </a:t>
            </a:r>
            <a:r>
              <a:rPr lang="en-GB" sz="1200" dirty="0">
                <a:effectLst/>
                <a:latin typeface="CMR10"/>
              </a:rPr>
              <a:t>does not evolve, </a:t>
            </a:r>
            <a:r>
              <a:rPr lang="en-GB" sz="1200" dirty="0">
                <a:effectLst/>
                <a:latin typeface="CMTI10"/>
              </a:rPr>
              <a:t>state </a:t>
            </a:r>
            <a:r>
              <a:rPr lang="en-GB" sz="1200" dirty="0">
                <a:effectLst/>
                <a:latin typeface="CMR10"/>
              </a:rPr>
              <a:t>is set to </a:t>
            </a:r>
            <a:r>
              <a:rPr lang="en-GB" sz="1200" dirty="0">
                <a:effectLst/>
                <a:latin typeface="CMTI10"/>
              </a:rPr>
              <a:t>open</a:t>
            </a:r>
            <a:r>
              <a:rPr lang="en-GB" sz="1200" dirty="0">
                <a:effectLst/>
                <a:latin typeface="CMR10"/>
              </a:rPr>
              <a:t>, and </a:t>
            </a:r>
            <a:r>
              <a:rPr lang="en-GB" sz="1200" dirty="0">
                <a:effectLst/>
                <a:latin typeface="CMTI10"/>
              </a:rPr>
              <a:t>out </a:t>
            </a:r>
            <a:r>
              <a:rPr lang="en-GB" sz="1200" dirty="0">
                <a:effectLst/>
                <a:latin typeface="CMR10"/>
              </a:rPr>
              <a:t>is set to 0 whatever the value of </a:t>
            </a:r>
            <a:r>
              <a:rPr lang="en-GB" sz="1200" dirty="0">
                <a:effectLst/>
                <a:latin typeface="CMTI10"/>
              </a:rPr>
              <a:t>in</a:t>
            </a:r>
            <a:r>
              <a:rPr lang="en-GB" sz="1200" dirty="0">
                <a:effectLst/>
                <a:latin typeface="CMR10"/>
              </a:rPr>
              <a:t>. When </a:t>
            </a:r>
            <a:r>
              <a:rPr lang="en-GB" sz="1200" dirty="0">
                <a:effectLst/>
                <a:latin typeface="CMTI10"/>
              </a:rPr>
              <a:t>handle </a:t>
            </a:r>
            <a:r>
              <a:rPr lang="en-GB" sz="1200" dirty="0">
                <a:effectLst/>
                <a:latin typeface="CMR10"/>
              </a:rPr>
              <a:t>is received, </a:t>
            </a:r>
            <a:r>
              <a:rPr lang="en-GB" sz="1200" dirty="0">
                <a:effectLst/>
                <a:latin typeface="CMMI10"/>
              </a:rPr>
              <a:t>x </a:t>
            </a:r>
            <a:r>
              <a:rPr lang="en-GB" sz="1200" dirty="0">
                <a:effectLst/>
                <a:latin typeface="CMR10"/>
              </a:rPr>
              <a:t>is set to 0.8, the state Intermediate1 is reached and </a:t>
            </a:r>
            <a:r>
              <a:rPr lang="en-GB" sz="1200" dirty="0">
                <a:effectLst/>
                <a:latin typeface="CMMI10"/>
              </a:rPr>
              <a:t>x </a:t>
            </a:r>
            <a:r>
              <a:rPr lang="en-GB" sz="1200" dirty="0">
                <a:effectLst/>
                <a:latin typeface="CMR10"/>
              </a:rPr>
              <a:t>begins to decrease. The values of </a:t>
            </a:r>
            <a:r>
              <a:rPr lang="en-GB" sz="1200" dirty="0">
                <a:effectLst/>
                <a:latin typeface="CMTI10"/>
              </a:rPr>
              <a:t>state </a:t>
            </a:r>
            <a:r>
              <a:rPr lang="en-GB" sz="1200" dirty="0">
                <a:effectLst/>
                <a:latin typeface="CMR10"/>
              </a:rPr>
              <a:t>and </a:t>
            </a:r>
            <a:r>
              <a:rPr lang="en-GB" sz="1200" dirty="0">
                <a:effectLst/>
                <a:latin typeface="CMTI10"/>
              </a:rPr>
              <a:t>out </a:t>
            </a:r>
            <a:r>
              <a:rPr lang="en-GB" sz="1200" dirty="0">
                <a:effectLst/>
                <a:latin typeface="CMR10"/>
              </a:rPr>
              <a:t>remain unchanged. 0.8 seconds later, </a:t>
            </a:r>
            <a:r>
              <a:rPr lang="en-GB" sz="1200" dirty="0">
                <a:effectLst/>
                <a:latin typeface="CMMI10"/>
              </a:rPr>
              <a:t>x </a:t>
            </a:r>
            <a:r>
              <a:rPr lang="en-GB" sz="1200" dirty="0">
                <a:effectLst/>
                <a:latin typeface="CMR10"/>
              </a:rPr>
              <a:t>reached the null value. The transition from Intermediate1 to Close is fired and </a:t>
            </a:r>
            <a:r>
              <a:rPr lang="en-GB" sz="1200" dirty="0">
                <a:effectLst/>
                <a:latin typeface="CMMI10"/>
              </a:rPr>
              <a:t>x </a:t>
            </a:r>
            <a:r>
              <a:rPr lang="en-GB" sz="1200" dirty="0">
                <a:effectLst/>
                <a:latin typeface="CMR10"/>
              </a:rPr>
              <a:t>is set to 20. </a:t>
            </a:r>
            <a:r>
              <a:rPr lang="en-GB" sz="1200" dirty="0">
                <a:effectLst/>
                <a:latin typeface="CMTI10"/>
              </a:rPr>
              <a:t>state </a:t>
            </a:r>
            <a:r>
              <a:rPr lang="en-GB" sz="1200" dirty="0">
                <a:effectLst/>
                <a:latin typeface="CMR10"/>
              </a:rPr>
              <a:t>is now set to </a:t>
            </a:r>
            <a:r>
              <a:rPr lang="en-GB" sz="1200" dirty="0">
                <a:effectLst/>
                <a:latin typeface="CMTI10"/>
              </a:rPr>
              <a:t>closed </a:t>
            </a:r>
            <a:r>
              <a:rPr lang="en-GB" sz="1200" dirty="0">
                <a:effectLst/>
                <a:latin typeface="CMR10"/>
              </a:rPr>
              <a:t>and </a:t>
            </a:r>
            <a:r>
              <a:rPr lang="en-GB" sz="1200" dirty="0">
                <a:effectLst/>
                <a:latin typeface="CMTI10"/>
              </a:rPr>
              <a:t>out </a:t>
            </a:r>
            <a:r>
              <a:rPr lang="en-GB" sz="1200" dirty="0">
                <a:effectLst/>
                <a:latin typeface="CMR10"/>
              </a:rPr>
              <a:t>is set to </a:t>
            </a:r>
            <a:r>
              <a:rPr lang="en-GB" sz="1200" dirty="0">
                <a:effectLst/>
                <a:latin typeface="CMTI10"/>
              </a:rPr>
              <a:t>in</a:t>
            </a:r>
            <a:r>
              <a:rPr lang="en-GB" sz="1200" dirty="0">
                <a:effectLst/>
                <a:latin typeface="CMR10"/>
              </a:rPr>
              <a:t>. And so on. The initial state of the automaton is Open. </a:t>
            </a:r>
            <a:endParaRPr lang="en-GB" sz="2000" dirty="0"/>
          </a:p>
          <a:p>
            <a:r>
              <a:rPr lang="en-GB" sz="1200" dirty="0">
                <a:effectLst/>
                <a:latin typeface="CMR10"/>
              </a:rPr>
              <a:t>Note that the switch is independent of the digital part. </a:t>
            </a:r>
            <a:endParaRPr lang="en-GB" sz="2000" dirty="0"/>
          </a:p>
          <a:p>
            <a:endParaRPr lang="en-GB" sz="2000" dirty="0"/>
          </a:p>
          <a:p>
            <a:endParaRPr lang="en-GB" sz="2000" dirty="0"/>
          </a:p>
          <a:p>
            <a:endParaRPr lang="en-FR" sz="2000" dirty="0"/>
          </a:p>
        </p:txBody>
      </p:sp>
      <p:pic>
        <p:nvPicPr>
          <p:cNvPr id="4" name="Picture 3">
            <a:extLst>
              <a:ext uri="{FF2B5EF4-FFF2-40B4-BE49-F238E27FC236}">
                <a16:creationId xmlns:a16="http://schemas.microsoft.com/office/drawing/2014/main" id="{1BBECDB4-E28D-93E4-FF2F-DE5EF3B683C8}"/>
              </a:ext>
            </a:extLst>
          </p:cNvPr>
          <p:cNvPicPr>
            <a:picLocks noChangeAspect="1"/>
          </p:cNvPicPr>
          <p:nvPr/>
        </p:nvPicPr>
        <p:blipFill>
          <a:blip r:embed="rId2"/>
          <a:stretch>
            <a:fillRect/>
          </a:stretch>
        </p:blipFill>
        <p:spPr>
          <a:xfrm>
            <a:off x="7811370" y="107471"/>
            <a:ext cx="3542430" cy="1840870"/>
          </a:xfrm>
          <a:prstGeom prst="rect">
            <a:avLst/>
          </a:prstGeom>
        </p:spPr>
      </p:pic>
      <p:pic>
        <p:nvPicPr>
          <p:cNvPr id="5" name="Picture 4">
            <a:extLst>
              <a:ext uri="{FF2B5EF4-FFF2-40B4-BE49-F238E27FC236}">
                <a16:creationId xmlns:a16="http://schemas.microsoft.com/office/drawing/2014/main" id="{AA37D008-0B9C-DD90-ED96-0098D28040E7}"/>
              </a:ext>
            </a:extLst>
          </p:cNvPr>
          <p:cNvPicPr>
            <a:picLocks noChangeAspect="1"/>
          </p:cNvPicPr>
          <p:nvPr/>
        </p:nvPicPr>
        <p:blipFill>
          <a:blip r:embed="rId3"/>
          <a:stretch>
            <a:fillRect/>
          </a:stretch>
        </p:blipFill>
        <p:spPr>
          <a:xfrm>
            <a:off x="6747353" y="2013429"/>
            <a:ext cx="5181600" cy="4737100"/>
          </a:xfrm>
          <a:prstGeom prst="rect">
            <a:avLst/>
          </a:prstGeom>
        </p:spPr>
      </p:pic>
    </p:spTree>
    <p:extLst>
      <p:ext uri="{BB962C8B-B14F-4D97-AF65-F5344CB8AC3E}">
        <p14:creationId xmlns:p14="http://schemas.microsoft.com/office/powerpoint/2010/main" val="2713207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8B13-1322-9B4F-3698-0C2E17FAF271}"/>
              </a:ext>
            </a:extLst>
          </p:cNvPr>
          <p:cNvSpPr>
            <a:spLocks noGrp="1"/>
          </p:cNvSpPr>
          <p:nvPr>
            <p:ph type="title"/>
          </p:nvPr>
        </p:nvSpPr>
        <p:spPr/>
        <p:txBody>
          <a:bodyPr/>
          <a:lstStyle/>
          <a:p>
            <a:r>
              <a:rPr lang="en-FR" dirty="0"/>
              <a:t>Analog Switch – No Time</a:t>
            </a:r>
          </a:p>
        </p:txBody>
      </p:sp>
      <p:pic>
        <p:nvPicPr>
          <p:cNvPr id="3" name="Picture 2">
            <a:extLst>
              <a:ext uri="{FF2B5EF4-FFF2-40B4-BE49-F238E27FC236}">
                <a16:creationId xmlns:a16="http://schemas.microsoft.com/office/drawing/2014/main" id="{E52EB24A-7CCC-CE25-9507-762F38ACA53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09800" y="1044647"/>
            <a:ext cx="7772400" cy="5813353"/>
          </a:xfrm>
          <a:prstGeom prst="rect">
            <a:avLst/>
          </a:prstGeom>
        </p:spPr>
      </p:pic>
    </p:spTree>
    <p:extLst>
      <p:ext uri="{BB962C8B-B14F-4D97-AF65-F5344CB8AC3E}">
        <p14:creationId xmlns:p14="http://schemas.microsoft.com/office/powerpoint/2010/main" val="2295557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019B4-82B7-5F9C-E051-D459F7447D4C}"/>
              </a:ext>
            </a:extLst>
          </p:cNvPr>
          <p:cNvSpPr>
            <a:spLocks noGrp="1"/>
          </p:cNvSpPr>
          <p:nvPr>
            <p:ph type="title"/>
          </p:nvPr>
        </p:nvSpPr>
        <p:spPr/>
        <p:txBody>
          <a:bodyPr/>
          <a:lstStyle/>
          <a:p>
            <a:r>
              <a:rPr lang="en-FR" dirty="0"/>
              <a:t>EnvAnalogSwitch</a:t>
            </a:r>
          </a:p>
        </p:txBody>
      </p:sp>
      <p:sp>
        <p:nvSpPr>
          <p:cNvPr id="3" name="Content Placeholder 2">
            <a:extLst>
              <a:ext uri="{FF2B5EF4-FFF2-40B4-BE49-F238E27FC236}">
                <a16:creationId xmlns:a16="http://schemas.microsoft.com/office/drawing/2014/main" id="{DD14D89E-8064-0B1F-A8D5-F82F016864D9}"/>
              </a:ext>
            </a:extLst>
          </p:cNvPr>
          <p:cNvSpPr>
            <a:spLocks noGrp="1"/>
          </p:cNvSpPr>
          <p:nvPr>
            <p:ph idx="1"/>
          </p:nvPr>
        </p:nvSpPr>
        <p:spPr/>
        <p:txBody>
          <a:bodyPr/>
          <a:lstStyle/>
          <a:p>
            <a:endParaRPr lang="en-FR" dirty="0"/>
          </a:p>
        </p:txBody>
      </p:sp>
      <p:pic>
        <p:nvPicPr>
          <p:cNvPr id="4" name="Picture 3">
            <a:extLst>
              <a:ext uri="{FF2B5EF4-FFF2-40B4-BE49-F238E27FC236}">
                <a16:creationId xmlns:a16="http://schemas.microsoft.com/office/drawing/2014/main" id="{EB1EF53E-9E60-659A-4A56-7C254ED2AAAE}"/>
              </a:ext>
            </a:extLst>
          </p:cNvPr>
          <p:cNvPicPr>
            <a:picLocks noChangeAspect="1"/>
          </p:cNvPicPr>
          <p:nvPr/>
        </p:nvPicPr>
        <p:blipFill>
          <a:blip r:embed="rId2"/>
          <a:stretch>
            <a:fillRect/>
          </a:stretch>
        </p:blipFill>
        <p:spPr>
          <a:xfrm>
            <a:off x="3369368" y="2567022"/>
            <a:ext cx="5984855" cy="3834800"/>
          </a:xfrm>
          <a:prstGeom prst="rect">
            <a:avLst/>
          </a:prstGeom>
        </p:spPr>
      </p:pic>
      <p:pic>
        <p:nvPicPr>
          <p:cNvPr id="5" name="Picture 4">
            <a:extLst>
              <a:ext uri="{FF2B5EF4-FFF2-40B4-BE49-F238E27FC236}">
                <a16:creationId xmlns:a16="http://schemas.microsoft.com/office/drawing/2014/main" id="{FC3DC98E-CCBE-6532-3F17-71D5694AEDF2}"/>
              </a:ext>
            </a:extLst>
          </p:cNvPr>
          <p:cNvPicPr>
            <a:picLocks noChangeAspect="1"/>
          </p:cNvPicPr>
          <p:nvPr/>
        </p:nvPicPr>
        <p:blipFill>
          <a:blip r:embed="rId3"/>
          <a:stretch>
            <a:fillRect/>
          </a:stretch>
        </p:blipFill>
        <p:spPr>
          <a:xfrm>
            <a:off x="2080781" y="2050484"/>
            <a:ext cx="8910411" cy="571792"/>
          </a:xfrm>
          <a:prstGeom prst="rect">
            <a:avLst/>
          </a:prstGeom>
        </p:spPr>
      </p:pic>
    </p:spTree>
    <p:extLst>
      <p:ext uri="{BB962C8B-B14F-4D97-AF65-F5344CB8AC3E}">
        <p14:creationId xmlns:p14="http://schemas.microsoft.com/office/powerpoint/2010/main" val="1149308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D8208-F8CA-A112-157B-BAFE998D4E48}"/>
              </a:ext>
            </a:extLst>
          </p:cNvPr>
          <p:cNvSpPr>
            <a:spLocks noGrp="1"/>
          </p:cNvSpPr>
          <p:nvPr>
            <p:ph type="title"/>
          </p:nvPr>
        </p:nvSpPr>
        <p:spPr/>
        <p:txBody>
          <a:bodyPr/>
          <a:lstStyle/>
          <a:p>
            <a:r>
              <a:rPr lang="en-FR" dirty="0"/>
              <a:t>AnalogSwitch Parameters</a:t>
            </a:r>
          </a:p>
        </p:txBody>
      </p:sp>
      <p:sp>
        <p:nvSpPr>
          <p:cNvPr id="3" name="Content Placeholder 2">
            <a:extLst>
              <a:ext uri="{FF2B5EF4-FFF2-40B4-BE49-F238E27FC236}">
                <a16:creationId xmlns:a16="http://schemas.microsoft.com/office/drawing/2014/main" id="{ADA959CC-D010-D1FF-7F1C-F49357138537}"/>
              </a:ext>
            </a:extLst>
          </p:cNvPr>
          <p:cNvSpPr>
            <a:spLocks noGrp="1"/>
          </p:cNvSpPr>
          <p:nvPr>
            <p:ph idx="1"/>
          </p:nvPr>
        </p:nvSpPr>
        <p:spPr/>
        <p:txBody>
          <a:bodyPr/>
          <a:lstStyle/>
          <a:p>
            <a:endParaRPr lang="en-FR"/>
          </a:p>
        </p:txBody>
      </p:sp>
      <p:pic>
        <p:nvPicPr>
          <p:cNvPr id="4" name="Picture 3">
            <a:extLst>
              <a:ext uri="{FF2B5EF4-FFF2-40B4-BE49-F238E27FC236}">
                <a16:creationId xmlns:a16="http://schemas.microsoft.com/office/drawing/2014/main" id="{3A4E4C4B-238E-4B3B-1D9B-8D8251823C74}"/>
              </a:ext>
            </a:extLst>
          </p:cNvPr>
          <p:cNvPicPr>
            <a:picLocks noChangeAspect="1"/>
          </p:cNvPicPr>
          <p:nvPr/>
        </p:nvPicPr>
        <p:blipFill rotWithShape="1">
          <a:blip r:embed="rId2"/>
          <a:srcRect l="15165" b="-5060"/>
          <a:stretch/>
        </p:blipFill>
        <p:spPr>
          <a:xfrm>
            <a:off x="267129" y="2939852"/>
            <a:ext cx="11643334" cy="676651"/>
          </a:xfrm>
          <a:prstGeom prst="rect">
            <a:avLst/>
          </a:prstGeom>
        </p:spPr>
      </p:pic>
    </p:spTree>
    <p:extLst>
      <p:ext uri="{BB962C8B-B14F-4D97-AF65-F5344CB8AC3E}">
        <p14:creationId xmlns:p14="http://schemas.microsoft.com/office/powerpoint/2010/main" val="2449805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DD8C-4A9E-908C-557D-43B4A8B88558}"/>
              </a:ext>
            </a:extLst>
          </p:cNvPr>
          <p:cNvSpPr>
            <a:spLocks noGrp="1"/>
          </p:cNvSpPr>
          <p:nvPr>
            <p:ph type="title"/>
          </p:nvPr>
        </p:nvSpPr>
        <p:spPr/>
        <p:txBody>
          <a:bodyPr/>
          <a:lstStyle/>
          <a:p>
            <a:r>
              <a:rPr lang="en-FR" dirty="0"/>
              <a:t>Analog Switch – No Time</a:t>
            </a:r>
          </a:p>
        </p:txBody>
      </p:sp>
      <p:pic>
        <p:nvPicPr>
          <p:cNvPr id="4" name="Picture 3">
            <a:extLst>
              <a:ext uri="{FF2B5EF4-FFF2-40B4-BE49-F238E27FC236}">
                <a16:creationId xmlns:a16="http://schemas.microsoft.com/office/drawing/2014/main" id="{B67421EE-9864-0C59-95A9-B1491B31FFBC}"/>
              </a:ext>
            </a:extLst>
          </p:cNvPr>
          <p:cNvPicPr>
            <a:picLocks noChangeAspect="1"/>
          </p:cNvPicPr>
          <p:nvPr/>
        </p:nvPicPr>
        <p:blipFill>
          <a:blip r:embed="rId2"/>
          <a:stretch>
            <a:fillRect/>
          </a:stretch>
        </p:blipFill>
        <p:spPr>
          <a:xfrm>
            <a:off x="838200" y="3306612"/>
            <a:ext cx="7620000" cy="2324100"/>
          </a:xfrm>
          <a:prstGeom prst="rect">
            <a:avLst/>
          </a:prstGeom>
        </p:spPr>
      </p:pic>
    </p:spTree>
    <p:extLst>
      <p:ext uri="{BB962C8B-B14F-4D97-AF65-F5344CB8AC3E}">
        <p14:creationId xmlns:p14="http://schemas.microsoft.com/office/powerpoint/2010/main" val="23380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044C-7D83-EC4F-C9A9-CD59EBBAF7B3}"/>
              </a:ext>
            </a:extLst>
          </p:cNvPr>
          <p:cNvSpPr>
            <a:spLocks noGrp="1"/>
          </p:cNvSpPr>
          <p:nvPr>
            <p:ph type="title"/>
          </p:nvPr>
        </p:nvSpPr>
        <p:spPr/>
        <p:txBody>
          <a:bodyPr/>
          <a:lstStyle/>
          <a:p>
            <a:r>
              <a:rPr lang="en-FR" dirty="0"/>
              <a:t>Analog Switch - Timed</a:t>
            </a:r>
          </a:p>
        </p:txBody>
      </p:sp>
      <p:pic>
        <p:nvPicPr>
          <p:cNvPr id="4" name="Picture 3">
            <a:extLst>
              <a:ext uri="{FF2B5EF4-FFF2-40B4-BE49-F238E27FC236}">
                <a16:creationId xmlns:a16="http://schemas.microsoft.com/office/drawing/2014/main" id="{681A3E2D-0D80-C4CB-22F6-99452E7DED39}"/>
              </a:ext>
            </a:extLst>
          </p:cNvPr>
          <p:cNvPicPr>
            <a:picLocks noChangeAspect="1"/>
          </p:cNvPicPr>
          <p:nvPr/>
        </p:nvPicPr>
        <p:blipFill>
          <a:blip r:embed="rId2"/>
          <a:stretch>
            <a:fillRect/>
          </a:stretch>
        </p:blipFill>
        <p:spPr>
          <a:xfrm>
            <a:off x="838200" y="3628024"/>
            <a:ext cx="7772400" cy="929712"/>
          </a:xfrm>
          <a:prstGeom prst="rect">
            <a:avLst/>
          </a:prstGeom>
        </p:spPr>
      </p:pic>
      <p:pic>
        <p:nvPicPr>
          <p:cNvPr id="3" name="Picture 2">
            <a:extLst>
              <a:ext uri="{FF2B5EF4-FFF2-40B4-BE49-F238E27FC236}">
                <a16:creationId xmlns:a16="http://schemas.microsoft.com/office/drawing/2014/main" id="{4781E914-0970-5285-3069-A983257819B0}"/>
              </a:ext>
            </a:extLst>
          </p:cNvPr>
          <p:cNvPicPr>
            <a:picLocks noChangeAspect="1"/>
          </p:cNvPicPr>
          <p:nvPr/>
        </p:nvPicPr>
        <p:blipFill>
          <a:blip r:embed="rId3"/>
          <a:stretch>
            <a:fillRect/>
          </a:stretch>
        </p:blipFill>
        <p:spPr>
          <a:xfrm>
            <a:off x="8750822" y="561298"/>
            <a:ext cx="3161430" cy="2520600"/>
          </a:xfrm>
          <a:prstGeom prst="rect">
            <a:avLst/>
          </a:prstGeom>
        </p:spPr>
      </p:pic>
    </p:spTree>
    <p:extLst>
      <p:ext uri="{BB962C8B-B14F-4D97-AF65-F5344CB8AC3E}">
        <p14:creationId xmlns:p14="http://schemas.microsoft.com/office/powerpoint/2010/main" val="3333097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976</TotalTime>
  <Words>563</Words>
  <Application>Microsoft Macintosh PowerPoint</Application>
  <PresentationFormat>Widescreen</PresentationFormat>
  <Paragraphs>16</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Calibri Light</vt:lpstr>
      <vt:lpstr>CMMI10</vt:lpstr>
      <vt:lpstr>CMR10</vt:lpstr>
      <vt:lpstr>CMSY10</vt:lpstr>
      <vt:lpstr>CMTI10</vt:lpstr>
      <vt:lpstr>Office Theme</vt:lpstr>
      <vt:lpstr>Landing Gear System UPPAAL</vt:lpstr>
      <vt:lpstr>Analog Switch</vt:lpstr>
      <vt:lpstr>Analog Switch – No Time</vt:lpstr>
      <vt:lpstr>EnvAnalogSwitch</vt:lpstr>
      <vt:lpstr>AnalogSwitch Parameters</vt:lpstr>
      <vt:lpstr>Analog Switch – No Time</vt:lpstr>
      <vt:lpstr>Analog Switch - Timed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Landing Gear System UPPAAL</dc:title>
  <dc:creator>Ciprian TEODOROV</dc:creator>
  <cp:lastModifiedBy>Ciprian TEODOROV</cp:lastModifiedBy>
  <cp:revision>2</cp:revision>
  <dcterms:created xsi:type="dcterms:W3CDTF">2023-11-15T15:24:34Z</dcterms:created>
  <dcterms:modified xsi:type="dcterms:W3CDTF">2023-11-16T07:40:39Z</dcterms:modified>
</cp:coreProperties>
</file>